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🎓  EduPilot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0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A Multi-Agent, Source-Grounded Educational AI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for Adaptive and Cross-Domain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456432"/>
            <a:ext cx="7616952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39312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Indiana University Bloomington  ·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62636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1">
                <a:solidFill>
                  <a:srgbClr val="FFFFFF"/>
                </a:solidFill>
                <a:latin typeface="Calibri"/>
              </a:rPr>
              <a:t>"A TA that never sleeps"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201168"/>
            <a:ext cx="73152" cy="5669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0000"/>
                </a:solidFill>
                <a:latin typeface="Calibri"/>
              </a:rPr>
              <a:t>Students Ask Smart Questions. Existing Tools Give Poor Answers.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6528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3474720" cy="2606040"/>
          </a:xfrm>
          <a:prstGeom prst="rect">
            <a:avLst/>
          </a:prstGeom>
          <a:solidFill>
            <a:srgbClr val="EEEDE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  <a:latin typeface="Calibri"/>
              </a:rPr>
              <a:t>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Questions Span Courses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ML + Statistics. Databases + ML.
No single course answers cross-domain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7116" y="1078992"/>
            <a:ext cx="3474720" cy="2606040"/>
          </a:xfrm>
          <a:prstGeom prst="rect">
            <a:avLst/>
          </a:prstGeom>
          <a:solidFill>
            <a:srgbClr val="EEEDE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7116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  <a:latin typeface="Calibri"/>
              </a:rPr>
              <a:t>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4276" y="1673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Generic AI Hallucinates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210312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LLMs produce confident wrong answers
~15-20% of the time on domain-specific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48472" y="1078992"/>
            <a:ext cx="3474720" cy="2606040"/>
          </a:xfrm>
          <a:prstGeom prst="rect">
            <a:avLst/>
          </a:prstGeom>
          <a:solidFill>
            <a:srgbClr val="EEEDEB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  <a:latin typeface="Calibri"/>
              </a:rPr>
              <a:t>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673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TAs Don't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10312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Calibri"/>
              </a:rPr>
              <a:t>~100 students per TA. Office hours are limited.
Students need help at 2 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64008" cy="65836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" y="3840480"/>
            <a:ext cx="11365992" cy="658368"/>
          </a:xfrm>
          <a:prstGeom prst="rect">
            <a:avLst/>
          </a:prstGeom>
          <a:solidFill>
            <a:srgbClr val="E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11137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1A1A1A"/>
                </a:solidFill>
                <a:latin typeface="Calibri"/>
              </a:rPr>
              <a:t>Students need a tutor that knows their course material, answers across subjects, cites every fact, and is always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201168"/>
            <a:ext cx="73152" cy="5669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0000"/>
                </a:solidFill>
                <a:latin typeface="Calibri"/>
              </a:rPr>
              <a:t>EduPilot: One AI Tutor. Four Courses. Every Answer Cited.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6528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90000"/>
                </a:solidFill>
                <a:latin typeface="Calibri"/>
              </a:rPr>
              <a:t>✅  Grounded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081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Every fact traces back to a source document with [Source N] citations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8366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90000"/>
                </a:solidFill>
                <a:latin typeface="Calibri"/>
              </a:rPr>
              <a:t>✅  Cross-Domain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12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One question answered across multiple courses simultaneously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8833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90000"/>
                </a:solidFill>
                <a:latin typeface="Calibri"/>
              </a:rPr>
              <a:t>✅ 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17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 second AI agent checks the answer before the student sees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84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New courses added by dropping files in a folder — zero code changes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078992"/>
            <a:ext cx="27432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078992"/>
            <a:ext cx="274320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1152144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90000"/>
                </a:solidFill>
                <a:latin typeface="Calibri"/>
              </a:rPr>
              <a:t>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1536192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Applied 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86537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Bias-variance · Neural Networks · SVMs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1078992"/>
            <a:ext cx="27432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078992"/>
            <a:ext cx="274320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1152144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90000"/>
                </a:solidFill>
                <a:latin typeface="Calibri"/>
              </a:rPr>
              <a:t>ADT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536192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Applied Database Technologies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186537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SQL · Normalization · ACID · NL2SQL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542032"/>
            <a:ext cx="27432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2542032"/>
            <a:ext cx="274320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2615184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90000"/>
                </a:solidFill>
                <a:latin typeface="Calibri"/>
              </a:rPr>
              <a:t>STAT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2999232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32841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Hypothesis Testing · P-values · ANOVA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5400" y="2542032"/>
            <a:ext cx="27432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5400" y="2542032"/>
            <a:ext cx="274320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25128" y="2615184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90000"/>
                </a:solidFill>
                <a:latin typeface="Calibri"/>
              </a:rPr>
              <a:t>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5128" y="2999232"/>
            <a:ext cx="25237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Large Language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3328416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Transformers · RLHF · LoRA · 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201168"/>
            <a:ext cx="73152" cy="5669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0000"/>
                </a:solidFill>
                <a:latin typeface="Calibri"/>
              </a:rPr>
              <a:t>From Student Question to Verified Answer — 7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6528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6" y="1371600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" y="142646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170078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Intent +
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1116" y="160934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2284" y="1371600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2284" y="142646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SPLITTER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2284" y="170078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Decompose
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884" y="160934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5052" y="1371600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5052" y="142646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RETRIEVER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5052" y="170078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Hybrid
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6652" y="160934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7820" y="1371600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7820" y="142646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RERANKER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170078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Best
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160934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0588" y="1371600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0588" y="142646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0588" y="170078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Generate
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2188" y="160934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63356" y="1371600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3356" y="142646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SYNTHESIZER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3356" y="170078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Merge
Domains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4956" y="1609344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0000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36124" y="1371600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36124" y="1426464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VERIFIER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6124" y="170078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Quality
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359152"/>
            <a:ext cx="11457432" cy="658368"/>
          </a:xfrm>
          <a:prstGeom prst="rect">
            <a:avLst/>
          </a:prstGeom>
          <a:solidFill>
            <a:srgbClr val="E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Think of it as 7 specialists — a router that understands your question, librarians who find the right pages, professors who write the answer, and an editor who checks 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3200400"/>
            <a:ext cx="557784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4645152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[ App Screenshot — Chat Response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201168"/>
            <a:ext cx="73152" cy="5669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0000"/>
                </a:solidFill>
                <a:latin typeface="Calibri"/>
              </a:rPr>
              <a:t>Finding the Right Content — Smarter Than a Search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6528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600200" cy="2743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06424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SEMANTIC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08176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Query → 384-dim vector → Pinecone vector DB → nearest chunks. Finds: related concepts, paraphrases.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1417320" cy="2743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3911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KEYWORD (BM25)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40864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Query → word frequency scoring → SQLite-backed index. Finds: exact terms, formula names.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Fused via Reciprocal Rank Fusion (RRF):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73552"/>
            <a:ext cx="61264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64992"/>
            <a:ext cx="5943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urier New"/>
              </a:rPr>
              <a:t>Score = 0.60 x 1/(60 + sem_rank)
         + 0.40 x 1/(60 + bm25_rank)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5137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Each course has its own isolated namespace — AML never sees STAT documents.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097280"/>
            <a:ext cx="2414016" cy="1600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3E8"/>
                </a:solidFill>
                <a:latin typeface="Calibri"/>
              </a:rPr>
              <a:t>Semantic
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27464" y="1097280"/>
            <a:ext cx="2414016" cy="1600200"/>
          </a:xfrm>
          <a:prstGeom prst="rect">
            <a:avLst/>
          </a:prstGeom>
          <a:solidFill>
            <a:srgbClr val="FEF3E8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7464" y="1664208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000"/>
                </a:solidFill>
                <a:latin typeface="Calibri"/>
              </a:rPr>
              <a:t>BM25
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69748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90000"/>
                </a:solidFill>
                <a:latin typeface="Calibri"/>
              </a:rPr>
              <a:t>↓   merge   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026664"/>
            <a:ext cx="493776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118104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90000"/>
                </a:solidFill>
                <a:latin typeface="Calibri"/>
              </a:rPr>
              <a:t>Top-K Fused Chunks
→ Domain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201168"/>
            <a:ext cx="73152" cy="5669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0000"/>
                </a:solidFill>
                <a:latin typeface="Calibri"/>
              </a:rPr>
              <a:t>Grounded Answers. Then Checked by a Critic.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6528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5637276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24712"/>
            <a:ext cx="56372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DOMAIN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543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700+ word comprehensive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54543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4+ section headers for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54543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2+ worked examples with real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42032"/>
            <a:ext cx="54543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Mathematical formulas with symbol explanations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71216"/>
            <a:ext cx="54543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[Source N] citation on every factual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54543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Real-World Applications + Key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9584"/>
            <a:ext cx="54543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References list appended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5916" y="1078992"/>
            <a:ext cx="5637276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5916" y="1124712"/>
            <a:ext cx="56372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VERIFIER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5644" y="16093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0000"/>
                </a:solidFill>
                <a:latin typeface="Calibri"/>
              </a:rPr>
              <a:t>quality_score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5644" y="1883664"/>
            <a:ext cx="53629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Educational depth, structure, examples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18520" y="1645920"/>
            <a:ext cx="713232" cy="256032"/>
          </a:xfrm>
          <a:prstGeom prst="rect">
            <a:avLst/>
          </a:prstGeom>
          <a:solidFill>
            <a:srgbClr val="E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18520" y="1664208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≥ 0.75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5644" y="22677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0000"/>
                </a:solidFill>
                <a:latin typeface="Calibri"/>
              </a:rPr>
              <a:t>coverage_score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5644" y="2542032"/>
            <a:ext cx="53629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All sub-topics addressed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18520" y="2304288"/>
            <a:ext cx="713232" cy="256032"/>
          </a:xfrm>
          <a:prstGeom prst="rect">
            <a:avLst/>
          </a:prstGeom>
          <a:solidFill>
            <a:srgbClr val="E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20" y="2322576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≥ 0.70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5644" y="29260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0000"/>
                </a:solidFill>
                <a:latin typeface="Calibri"/>
              </a:rPr>
              <a:t>grounding_score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5644" y="3200400"/>
            <a:ext cx="53629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Facts traced to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18520" y="2962656"/>
            <a:ext cx="713232" cy="256032"/>
          </a:xfrm>
          <a:prstGeom prst="rect">
            <a:avLst/>
          </a:prstGeom>
          <a:solidFill>
            <a:srgbClr val="E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18520" y="2980944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90000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5644" y="3584448"/>
            <a:ext cx="5454396" cy="566928"/>
          </a:xfrm>
          <a:prstGeom prst="rect">
            <a:avLst/>
          </a:prstGeom>
          <a:solidFill>
            <a:srgbClr val="E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7084" y="3666744"/>
            <a:ext cx="52715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If answer fails → Verifier lists gaps → produces revised answer → student sees the better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5644" y="4279392"/>
            <a:ext cx="54543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0000"/>
                </a:solidFill>
                <a:latin typeface="Calibri"/>
              </a:rPr>
              <a:t>Student sees: ✅ 96% Quality badge on every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201168"/>
            <a:ext cx="73152" cy="5669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0000"/>
                </a:solidFill>
                <a:latin typeface="Calibri"/>
              </a:rPr>
              <a:t>Your Personal AI Tutor for Any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6528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90000"/>
                </a:solidFill>
                <a:latin typeface="Calibr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09728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Create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40817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Name your private study space (e.g. ML Interview Prep)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6537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90000"/>
                </a:solidFill>
                <a:latin typeface="Calibri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86537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Upload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7627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PDF, TXT, MD, DOCX via drag-and-drop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90000"/>
                </a:solidFill>
                <a:latin typeface="Calibri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63347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Auto-Indexed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94436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Chunked, embedded, stored in private Pinecone namespace (ss_uuid)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015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90000"/>
                </a:solidFill>
                <a:latin typeface="Calibri"/>
              </a:rPr>
              <a:t>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40156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Chat +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71246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Ask questions, filter by document, get cited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7939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Delete session → all data wiped from Pinecone + SQLite permanently.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18304"/>
            <a:ext cx="4937760" cy="502920"/>
          </a:xfrm>
          <a:prstGeom prst="rect">
            <a:avLst/>
          </a:prstGeom>
          <a:solidFill>
            <a:srgbClr val="E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9145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0000"/>
                </a:solidFill>
                <a:latin typeface="Calibri"/>
              </a:rPr>
              <a:t>Student documents NEVER mix with course knowledge bases.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097280"/>
            <a:ext cx="6217920" cy="5303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547872"/>
            <a:ext cx="6217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[ Self Study UI Screenshot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201168"/>
            <a:ext cx="73152" cy="5669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0000"/>
                </a:solidFill>
                <a:latin typeface="Calibri"/>
              </a:rPr>
              <a:t>Tested Systematically — Here's What We 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6528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828800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338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078992"/>
            <a:ext cx="3200400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13385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078992"/>
            <a:ext cx="2011680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1338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078992"/>
            <a:ext cx="1188720" cy="347472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1338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26464"/>
            <a:ext cx="182880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48132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Single-Domain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426464"/>
            <a:ext cx="320040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14813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TC-01: Bias-Variance (AML)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1426464"/>
            <a:ext cx="201168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14813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✅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426464"/>
            <a:ext cx="118872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481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96%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773936"/>
            <a:ext cx="1828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828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Multi-Domain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1773936"/>
            <a:ext cx="3200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18288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TC-04: ML + NL2SQL (AML+ADT)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1773936"/>
            <a:ext cx="2011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1828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✅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1773936"/>
            <a:ext cx="11887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18288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121408"/>
            <a:ext cx="182880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1762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Vague Query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2121408"/>
            <a:ext cx="320040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80" y="217627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TC-05: How does it work?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2121408"/>
            <a:ext cx="201168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21762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✅ Clarified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121408"/>
            <a:ext cx="118872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1762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468880"/>
            <a:ext cx="1828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5237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Out-of-Domain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2468880"/>
            <a:ext cx="3200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25237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TC-06: Capital of France?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2468880"/>
            <a:ext cx="20116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80" y="25237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✅ Refused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2468880"/>
            <a:ext cx="11887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25237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816352"/>
            <a:ext cx="182880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871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Hallucination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0" y="2816352"/>
            <a:ext cx="320040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40280" y="287121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TC-07: Made-up algorithm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2816352"/>
            <a:ext cx="201168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287121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✅ No halluc.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2816352"/>
            <a:ext cx="1188720" cy="347472"/>
          </a:xfrm>
          <a:prstGeom prst="rect">
            <a:avLst/>
          </a:prstGeom>
          <a:solidFill>
            <a:srgbClr val="EEEDEB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28712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328416"/>
            <a:ext cx="5591556" cy="31272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690872"/>
            <a:ext cx="55915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[ Evaluation Suite Screenshot 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58484" y="3328416"/>
            <a:ext cx="5591556" cy="31272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58484" y="4690872"/>
            <a:ext cx="55915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[ TC-01 Result Card — 96% Quality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92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A1A1A"/>
                </a:solidFill>
                <a:latin typeface="Calibri"/>
              </a:rPr>
              <a:t>Key result: System correctly refuses out-of-domain questions and avoids hallucinating on non-existent topics.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201168"/>
            <a:ext cx="73152" cy="5669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90000"/>
                </a:solidFill>
                <a:latin typeface="Calibri"/>
              </a:rPr>
              <a:t>What Makes It Novel — And What Building It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1457432" cy="254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65288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3697224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24712"/>
            <a:ext cx="3697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INNOVATIONS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91056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Domain-Isolated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Separate Pinecone namespace per course, zero contamination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40864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Verification-as-Agent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15184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Adversarial critic agent, not self-check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90672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Session-Scoped Self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64992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Same pipeline, private namespace per student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4424" y="1078992"/>
            <a:ext cx="3697224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4424" y="1124712"/>
            <a:ext cx="3697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5864" y="1591056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Terminology Gaps Break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5592" y="1865376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"self attention block" vs "self-attention mechanism" needed explicit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5864" y="2340864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Fallback Model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5592" y="2615184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gemini-2.5-flash rated same answer 30% vs 96%; added quality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5864" y="3090672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Grounded Refusals Are Correct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5592" y="3364992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"I cannot find this" is a feature, not a failure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43088" y="1078992"/>
            <a:ext cx="3697224" cy="38404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3088" y="1124712"/>
            <a:ext cx="3697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4528" y="1591056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Garbled PDF Math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4256" y="1865376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LLM cleans garbled formulas but imperfectly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4528" y="2340864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BM25 Not Persistent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4256" y="2615184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In-memory index lost on restart; re-init from 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4528" y="3090672"/>
            <a:ext cx="3514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• API Quota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4256" y="3364992"/>
            <a:ext cx="3404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Free API quota causes model fallback during heavy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EduPilot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234440"/>
            <a:ext cx="7616952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99616"/>
            <a:ext cx="8897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7-stage multi-agent RAG · 4 IU courses · Hybrid retrieval · Self Study · Evaluation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2140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57984"/>
            <a:ext cx="8897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Hybrid retrieval + domain isolation + independent verification = grounded, trustworthy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7977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797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16352"/>
            <a:ext cx="8897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Terminology gaps, fallback model scoring, and honest refusals are the hardest real-world RAG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3814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43814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74720"/>
            <a:ext cx="8897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Any university, any course — drop files in, get an AI TA in minutes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187952"/>
            <a:ext cx="7616952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"EduPilot shows that AI in education doesn't have to hallucinate.
Every claim is cited. Every answer is verified. Every fact is traceable."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97880"/>
            <a:ext cx="10360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🙏  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